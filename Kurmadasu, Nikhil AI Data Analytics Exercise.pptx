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 varScale="1">
        <p:scale>
          <a:sx n="102" d="100"/>
          <a:sy n="102" d="100"/>
        </p:scale>
        <p:origin x="8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E0F5-20E3-2E11-5B2F-FD568CECCC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781" y="1816274"/>
            <a:ext cx="9544832" cy="1612726"/>
          </a:xfrm>
        </p:spPr>
        <p:txBody>
          <a:bodyPr/>
          <a:lstStyle/>
          <a:p>
            <a:r>
              <a:rPr lang="en-US" sz="4000" dirty="0"/>
              <a:t>AI-Driven vs. Manual Data Analytics: </a:t>
            </a:r>
            <a:br>
              <a:rPr lang="en-US" sz="4000" dirty="0"/>
            </a:br>
            <a:r>
              <a:rPr lang="en-US" sz="4000" dirty="0"/>
              <a:t>A Comparative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F76EE-1C8D-FC14-3432-FDC9B7E6E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175552" cy="17737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Walmart Retail &amp; Cricket Performance Analysis</a:t>
            </a:r>
          </a:p>
          <a:p>
            <a:r>
              <a:rPr lang="en-US" dirty="0"/>
              <a:t>Nikhil Kurmadasu</a:t>
            </a:r>
          </a:p>
          <a:p>
            <a:r>
              <a:rPr lang="en-US" dirty="0"/>
              <a:t>Foundations of Data Analytics</a:t>
            </a:r>
          </a:p>
          <a:p>
            <a:r>
              <a:rPr lang="en-US" dirty="0"/>
              <a:t>Dr. Mary</a:t>
            </a:r>
          </a:p>
          <a:p>
            <a:r>
              <a:rPr lang="en-US" dirty="0"/>
              <a:t>March 15, 2026</a:t>
            </a:r>
          </a:p>
        </p:txBody>
      </p:sp>
    </p:spTree>
    <p:extLst>
      <p:ext uri="{BB962C8B-B14F-4D97-AF65-F5344CB8AC3E}">
        <p14:creationId xmlns:p14="http://schemas.microsoft.com/office/powerpoint/2010/main" val="318302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F97E-DB57-85D2-2ADA-052744B4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AI Data Scientist</a:t>
            </a:r>
            <a:br>
              <a:rPr lang="en-US" dirty="0"/>
            </a:br>
            <a:r>
              <a:rPr lang="en-US" dirty="0"/>
              <a:t>Persona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C800-8A66-B6BF-B0D5-CAC2818C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Approach: Leveraged ChatGPT-4o as a 'Senior Data Scientist' persona.</a:t>
            </a:r>
          </a:p>
          <a:p>
            <a:endParaRPr lang="en-US" dirty="0"/>
          </a:p>
          <a:p>
            <a:r>
              <a:rPr lang="en-US" dirty="0"/>
              <a:t>• Prompt Strategy: Instructed AI to clean, normalize, and assess distributions.</a:t>
            </a:r>
          </a:p>
          <a:p>
            <a:endParaRPr lang="en-US" dirty="0"/>
          </a:p>
          <a:p>
            <a:r>
              <a:rPr lang="en-US" dirty="0"/>
              <a:t>• Data Preparation: Addressed date parsing, handled CPI/Unemployment normalization.</a:t>
            </a:r>
          </a:p>
          <a:p>
            <a:endParaRPr lang="en-US" dirty="0"/>
          </a:p>
          <a:p>
            <a:r>
              <a:rPr lang="en-US" dirty="0"/>
              <a:t>• Toolset: ChatGPT Data Analyst (Python-based kernel) vs. Manual Analysis (Module 6.3).</a:t>
            </a:r>
          </a:p>
        </p:txBody>
      </p:sp>
    </p:spTree>
    <p:extLst>
      <p:ext uri="{BB962C8B-B14F-4D97-AF65-F5344CB8AC3E}">
        <p14:creationId xmlns:p14="http://schemas.microsoft.com/office/powerpoint/2010/main" val="410675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F585-3A94-9DA4-4CF4-E307DE26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AI-Generated Insights: Walmart</a:t>
            </a:r>
            <a:br>
              <a:rPr lang="en-US" dirty="0"/>
            </a:br>
            <a:r>
              <a:rPr lang="en-US" dirty="0"/>
              <a:t>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EAFC1-3962-23D7-3D2F-DD0BC0853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Findings from Generative AI analysis:</a:t>
            </a:r>
          </a:p>
          <a:p>
            <a:pPr marL="0" indent="0">
              <a:buNone/>
            </a:pPr>
            <a:r>
              <a:rPr lang="en-US" dirty="0"/>
              <a:t>	• Holiday Multiplier: AI identified that Holiday weeks generate 3-5x higher sales variance than standard weeks.</a:t>
            </a:r>
          </a:p>
          <a:p>
            <a:pPr marL="0" indent="0">
              <a:buNone/>
            </a:pPr>
            <a:r>
              <a:rPr lang="en-US" dirty="0"/>
              <a:t>	• External Sensitivity: High-quality identification of the 'Inverse Relationship’ between Unemployment and Sales.</a:t>
            </a:r>
          </a:p>
          <a:p>
            <a:pPr marL="0" indent="0">
              <a:buNone/>
            </a:pPr>
            <a:r>
              <a:rPr lang="en-US" dirty="0"/>
              <a:t>	• Anomaly Detection: AI highlighted outliers in Store 20 and Store 4 during 2010 Q4.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01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7153-AA4D-A22B-BA65-4CCF8BAD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Analysis: AI vs.</a:t>
            </a:r>
            <a:br>
              <a:rPr lang="en-US" dirty="0"/>
            </a:br>
            <a:r>
              <a:rPr lang="en-US" dirty="0"/>
              <a:t>Manual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B5CE0-7232-1619-F457-93E7B7B76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with Previous 6.3 Manual Analysis:</a:t>
            </a:r>
          </a:p>
          <a:p>
            <a:pPr marL="0" indent="0">
              <a:buNone/>
            </a:pPr>
            <a:r>
              <a:rPr lang="en-US" dirty="0"/>
              <a:t>	• Efficiency: AI processed all store metrics simultaneously; manual analysis was limited to aggregate views.</a:t>
            </a:r>
          </a:p>
          <a:p>
            <a:pPr marL="0" indent="0">
              <a:buNone/>
            </a:pPr>
            <a:r>
              <a:rPr lang="en-US" dirty="0"/>
              <a:t>	• Granularity: GPT provided store-level insights that were missed in the broader manual data fusion.</a:t>
            </a:r>
          </a:p>
          <a:p>
            <a:pPr marL="0" indent="0">
              <a:buNone/>
            </a:pPr>
            <a:r>
              <a:rPr lang="en-US" dirty="0"/>
              <a:t>	• Visualization: GPT automated complex multi-variate regression plots instantly.</a:t>
            </a:r>
          </a:p>
        </p:txBody>
      </p:sp>
    </p:spTree>
    <p:extLst>
      <p:ext uri="{BB962C8B-B14F-4D97-AF65-F5344CB8AC3E}">
        <p14:creationId xmlns:p14="http://schemas.microsoft.com/office/powerpoint/2010/main" val="1363665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F188-E302-5A48-82D2-84DDD45C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&amp; Biblical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861F6-B8E2-909D-1946-753873FE2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Responsible Stewardship of AI Analytics:</a:t>
            </a:r>
          </a:p>
          <a:p>
            <a:pPr marL="0" indent="0">
              <a:buNone/>
            </a:pPr>
            <a:r>
              <a:rPr lang="en-US" dirty="0"/>
              <a:t>	• Integrity in Reporting: Proverbs 11:1 – Ensuring 'honest scales' when AI suggests trends that might be hallucinations.</a:t>
            </a:r>
          </a:p>
          <a:p>
            <a:pPr marL="0" indent="0">
              <a:buNone/>
            </a:pPr>
            <a:r>
              <a:rPr lang="en-US" dirty="0"/>
              <a:t>	• Bias Awareness: Recognizing that AI can automate unfair biases against specific store demographics.</a:t>
            </a:r>
          </a:p>
          <a:p>
            <a:pPr marL="0" indent="0">
              <a:buNone/>
            </a:pPr>
            <a:r>
              <a:rPr lang="en-US" dirty="0"/>
              <a:t>	• Data Privacy: Protecting consumer anonymity during large-scale retail processing.</a:t>
            </a:r>
          </a:p>
        </p:txBody>
      </p:sp>
    </p:spTree>
    <p:extLst>
      <p:ext uri="{BB962C8B-B14F-4D97-AF65-F5344CB8AC3E}">
        <p14:creationId xmlns:p14="http://schemas.microsoft.com/office/powerpoint/2010/main" val="2648307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4792-8FA0-0CE0-19C3-649878E8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Successes and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F0D31-F1C9-45E6-C4D2-D6B8BB5C6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worked and what failed?</a:t>
            </a:r>
          </a:p>
          <a:p>
            <a:pPr marL="0" indent="0">
              <a:buNone/>
            </a:pPr>
            <a:r>
              <a:rPr lang="en-US" dirty="0"/>
              <a:t>	• Success: Immediate syntax-error correction in complex date formats.</a:t>
            </a:r>
          </a:p>
          <a:p>
            <a:pPr marL="0" indent="0">
              <a:buNone/>
            </a:pPr>
            <a:r>
              <a:rPr lang="en-US" dirty="0"/>
              <a:t>	• Error: AI initially misinterpreted 'CPI' as a nominal value rather than an index in correlation matrices.</a:t>
            </a:r>
          </a:p>
          <a:p>
            <a:pPr marL="0" indent="0">
              <a:buNone/>
            </a:pPr>
            <a:r>
              <a:rPr lang="en-US" dirty="0"/>
              <a:t>	• Limitation: AI lack of regional '</a:t>
            </a:r>
            <a:r>
              <a:rPr lang="en-US" dirty="0" err="1"/>
              <a:t>localknowledge</a:t>
            </a:r>
            <a:r>
              <a:rPr lang="en-US" dirty="0"/>
              <a:t>' (e.g., local events not in the CSV).</a:t>
            </a:r>
          </a:p>
        </p:txBody>
      </p:sp>
    </p:spTree>
    <p:extLst>
      <p:ext uri="{BB962C8B-B14F-4D97-AF65-F5344CB8AC3E}">
        <p14:creationId xmlns:p14="http://schemas.microsoft.com/office/powerpoint/2010/main" val="1285538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EA09-DB20-5C04-36A8-FACC93A6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Strategy: Deepening the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4FB8-A2EE-5187-31EF-7B1BAF8CC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341406" cy="3880773"/>
          </a:xfrm>
        </p:spPr>
        <p:txBody>
          <a:bodyPr>
            <a:normAutofit/>
          </a:bodyPr>
          <a:lstStyle/>
          <a:p>
            <a:r>
              <a:rPr lang="en-US" dirty="0"/>
              <a:t>Prompts for Deeper Discovery:</a:t>
            </a:r>
          </a:p>
          <a:p>
            <a:pPr marL="0" indent="0">
              <a:buNone/>
            </a:pPr>
            <a:r>
              <a:rPr lang="en-US" dirty="0"/>
              <a:t>	1. 'Identify the top 5 stores with declining sales despite favorable CPI trends.’</a:t>
            </a:r>
          </a:p>
          <a:p>
            <a:pPr marL="0" indent="0">
              <a:buNone/>
            </a:pPr>
            <a:r>
              <a:rPr lang="en-US" dirty="0"/>
              <a:t>	2. 'Model a 12-month forecast for Store 1 using a Prophet or ARIMA model.’</a:t>
            </a:r>
          </a:p>
          <a:p>
            <a:pPr marL="0" indent="0">
              <a:buNone/>
            </a:pPr>
            <a:r>
              <a:rPr lang="en-US" dirty="0"/>
              <a:t>	3. 'Perform a clustering analysis to group stores by consumer sensitivity to fuel prices.'</a:t>
            </a:r>
          </a:p>
        </p:txBody>
      </p:sp>
    </p:spTree>
    <p:extLst>
      <p:ext uri="{BB962C8B-B14F-4D97-AF65-F5344CB8AC3E}">
        <p14:creationId xmlns:p14="http://schemas.microsoft.com/office/powerpoint/2010/main" val="231021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A190-CE73-82F7-932A-26DC6A2F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3F59-B4F5-003D-80C4-48020DF6E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Kaggle. (n.d.). Walmart sales dataset of 45 stores.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Fabric HQ. (2023). What is data fusion in data analytics?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OpenAI. (2024). ChatGPT (Version 4o) </a:t>
            </a:r>
            <a:r>
              <a:rPr lang="en-US"/>
              <a:t>[Data Analyst </a:t>
            </a:r>
            <a:r>
              <a:rPr lang="en-US" dirty="0"/>
              <a:t>Tool].</a:t>
            </a:r>
          </a:p>
        </p:txBody>
      </p:sp>
    </p:spTree>
    <p:extLst>
      <p:ext uri="{BB962C8B-B14F-4D97-AF65-F5344CB8AC3E}">
        <p14:creationId xmlns:p14="http://schemas.microsoft.com/office/powerpoint/2010/main" val="21584867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463</Words>
  <Application>Microsoft Macintosh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AI-Driven vs. Manual Data Analytics:  A Comparative Study</vt:lpstr>
      <vt:lpstr>Methodology: AI Data Scientist Persona</vt:lpstr>
      <vt:lpstr>AI-Generated Insights: Walmart Trends</vt:lpstr>
      <vt:lpstr>Comparative Analysis: AI vs. Manual</vt:lpstr>
      <vt:lpstr>Ethical &amp; Biblical Implications</vt:lpstr>
      <vt:lpstr>Evaluation: Successes and Errors</vt:lpstr>
      <vt:lpstr>Future Strategy: Deepening the analysis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Kurmadasu</dc:creator>
  <cp:lastModifiedBy>Nikhil Kurmadasu</cp:lastModifiedBy>
  <cp:revision>10</cp:revision>
  <dcterms:created xsi:type="dcterms:W3CDTF">2026-03-15T20:36:19Z</dcterms:created>
  <dcterms:modified xsi:type="dcterms:W3CDTF">2026-03-15T20:49:45Z</dcterms:modified>
</cp:coreProperties>
</file>